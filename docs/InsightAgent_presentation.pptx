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technical report PDF: InsightAgent_Technical_Report_final_nosubmissionblock_fig2singlecol(1).pdf, pp.1-5.
- User-provided API documentation PDF: API(1).pdf, pp.1-3.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architecture image: 994c43e8-b114-4e37-89df-98550d780042.png.
- User-provided technical report PDF, p.2 Figure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Mermaid ER specification from chat message on 2026-04-21.
- User-provided technical report PDF, pp.1-2 for business tables and custom audit tables.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GitHub repository screenshot: 58ab371d-7a4f-42ae-9b96-739c447604b7.png.
- User-provided GitHub commit-history screenshot: 12e4d12a-ebee-4cc1-9ad6-2a5fcdad6be0.png.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API documentation PDF: API(1).pdf, pp.2, 6, and 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technical report PDF, pp.1-3 (Technology Stack Justification and Table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coursework brief PDFs: XJCO3011_Coursework1_Brief__2025_2026*.pdf, deliverables and presentation sections.
- User-provided technical report PDF, p.4-5 (submission readiness).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technical report PDF, pp.2-4 (Natural-Language Analysis Path, LLM Agent Design, Figure 3).
- User-provided API documentation PDF, pp.19-20 (/analytics/analyze).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technical report PDF, pp.2-3 and p.6 (architecture decision and ChatGPT architecture exploration appendix).
- User-provided API documentation PDF, pp.3, 6, and 19-22.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User-provided technical report PDF, p.3 Figure 2 and Section 5.2.
- User-provided API documentation PDF, p.6 (skill-specific error statuses).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6473952"/>
            <a:ext cx="21945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InsightAgent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646920" y="6473952"/>
            <a:ext cx="21031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XJCO3011 Coursework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73952"/>
            <a:ext cx="274320" cy="18288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73952"/>
            <a:ext cx="274320" cy="18288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E8F1FF"/>
          </a:solidFill>
          <a:ln w="12700">
            <a:solidFill>
              <a:srgbClr val="E8F1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56692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InsightAgent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58368" y="1645920"/>
            <a:ext cx="978408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</a:rPr>
              <a:t>Enterprise Sales Data API with an LLM-Powered Self-Loop Analysis Agent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5577840" cy="2011680"/>
          </a:xfrm>
          <a:prstGeom prst="rect">
            <a:avLst/>
          </a:prstGeom>
          <a:noFill/>
        </p:spPr>
        <p:txBody>
          <a:bodyPr wrap="square" lIns="25400" tIns="25400" rIns="25400" bIns="25400" rtlCol="0" anchor="t"/>
          <a:lstStyle/>
          <a:p>
            <a:pPr marL="0" indent="0">
              <a:buSzPct val="100000"/>
              <a:buNone/>
            </a:pPr>
            <a:r>
              <a:rPr lang="en-US" sz="18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FastAPI + MySQL 8 + Docker Compose deployment</a:t>
            </a:r>
            <a:r>
              <a:rPr lang="en-US" sz="18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800" dirty="0"/>
          </a:p>
          <a:p>
            <a:pPr marL="0" indent="0">
              <a:buSzPct val="100000"/>
              <a:buNone/>
            </a:pPr>
            <a:r>
              <a:rPr lang="en-US" sz="18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Models business schema extended with audit and agent tables</a:t>
            </a:r>
            <a:r>
              <a:rPr lang="en-US" sz="18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800" dirty="0"/>
          </a:p>
          <a:p>
            <a:pPr marL="205740" indent="-205740"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CRUD routes, analytics endpoints, and a controlled natural-language analysis path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903720" y="2240280"/>
            <a:ext cx="45720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050024" y="235000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Project scope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050024" y="2651760"/>
            <a:ext cx="4297680" cy="55778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A database-backed web API that combines conventional engineering discipline with a modern tool-using analysis agent.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903720" y="3520440"/>
            <a:ext cx="45720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050024" y="363016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Core highlight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50024" y="3931920"/>
            <a:ext cx="4297680" cy="55778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The agent does not answer from memory: it must observe the schema, execute analysis code, and terminate with a grounded final answer.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903720" y="4800600"/>
            <a:ext cx="45720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050024" y="491032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Why it fits the coursework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50024" y="5212080"/>
            <a:ext cx="4297680" cy="55778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It demonstrates CRUD, analytics, API documentation, deployment, testing, and creative high-level GenAI use in one coherent system.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73952"/>
            <a:ext cx="274320" cy="18288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The API server, LLM orchestration layer, isolated execution environment, and read-only / read-write data paths are explicitly separated.</a:t>
            </a:r>
            <a:endParaRPr lang="en-US" sz="1100" dirty="0"/>
          </a:p>
        </p:txBody>
      </p:sp>
      <p:pic>
        <p:nvPicPr>
          <p:cNvPr id="4" name="Image 0" descr="/mnt/data/994c43e8-b114-4e37-89df-98550d78004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740" y="1078865"/>
            <a:ext cx="10606405" cy="485521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0875" y="5934075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22960" y="6093968"/>
            <a:ext cx="1060704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4155"/>
                </a:solidFill>
              </a:rPr>
              <a:t>Key idea: standard business routes use the write-enabled path, while the agent and skill execution path are isolated and restricted to the read-only side.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73952"/>
            <a:ext cx="274320" cy="18288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Model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Classic Models business tables are extended with saved_queries, analysis_logs, and agent_turns to support auditability and the agent workflow.</a:t>
            </a:r>
            <a:endParaRPr lang="en-US" sz="1100" dirty="0"/>
          </a:p>
        </p:txBody>
      </p:sp>
      <p:pic>
        <p:nvPicPr>
          <p:cNvPr id="4" name="Image 0" descr="/mnt/data/ppt_build/er_diagram.svg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p:blipFill>
        <p:spPr>
          <a:xfrm>
            <a:off x="1993265" y="1124585"/>
            <a:ext cx="7863840" cy="64338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73952"/>
            <a:ext cx="274320" cy="18288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Version Control &amp; GitHub Evidence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The repository is public, structured, and backed by a visible multi-commit history.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207008"/>
            <a:ext cx="5486400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99632" y="1207008"/>
            <a:ext cx="5468112" cy="46634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325880"/>
            <a:ext cx="21945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Repository homepage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82512" y="1325880"/>
            <a:ext cx="219456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</a:rPr>
              <a:t>Commit history</a:t>
            </a:r>
            <a:endParaRPr lang="en-US" sz="1400" dirty="0"/>
          </a:p>
        </p:txBody>
      </p:sp>
      <p:pic>
        <p:nvPicPr>
          <p:cNvPr id="8" name="Image 0" descr="/mnt/data/58ab371d-7a4f-42ae-9b96-739c447604b7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314575"/>
            <a:ext cx="5113655" cy="2637155"/>
          </a:xfrm>
          <a:prstGeom prst="rect">
            <a:avLst/>
          </a:prstGeom>
        </p:spPr>
      </p:pic>
      <p:pic>
        <p:nvPicPr>
          <p:cNvPr id="9" name="Image 1" descr="/mnt/data/12e4d12a-ebee-4cc1-9ad6-2a5fcdad6b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317689"/>
            <a:ext cx="5074920" cy="263410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34155"/>
                </a:solidFill>
              </a:rPr>
              <a:t>Evidence shown: public repo, README/docs structure, classicmodels.sql, Docker files, and visible iterative commits for documentation and hardening work.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73952"/>
            <a:ext cx="274320" cy="18288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API Documentation Overview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The written API documentation covers endpoint groups, authentication, error codes, skill-specific failures, and the natural-language analysis route.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02920" y="1143000"/>
            <a:ext cx="3261995" cy="4663440"/>
          </a:xfrm>
          <a:prstGeom prst="roundRect">
            <a:avLst>
              <a:gd name="adj" fmla="val 98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89375" y="1124585"/>
            <a:ext cx="3261995" cy="464820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83475" y="1130935"/>
            <a:ext cx="3407410" cy="4663440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61872"/>
            <a:ext cx="182880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Endpoint overview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78935" y="1261872"/>
            <a:ext cx="192024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Skill error statuses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90561" y="1261872"/>
            <a:ext cx="210312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</a:rPr>
              <a:t>/analytics/analyze route</a:t>
            </a:r>
            <a:endParaRPr lang="en-US" sz="1300" dirty="0"/>
          </a:p>
        </p:txBody>
      </p:sp>
      <p:pic>
        <p:nvPicPr>
          <p:cNvPr id="10" name="Image 0" descr="/mnt/data/user-g4qmoJG7bEvpwobv0W0I9Ome/fe83e81cdb7c42c08ba50b81e480a552/mnt/data/pptwork/api_render/page-0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694" y="1499616"/>
            <a:ext cx="2945087" cy="4160520"/>
          </a:xfrm>
          <a:prstGeom prst="rect">
            <a:avLst/>
          </a:prstGeom>
        </p:spPr>
      </p:pic>
      <p:pic>
        <p:nvPicPr>
          <p:cNvPr id="11" name="Image 1" descr="/mnt/data/user-g4qmoJG7bEvpwobv0W0I9Ome/fe83e81cdb7c42c08ba50b81e480a552/mnt/data/pptwork/api_render/pag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5430" y="1499870"/>
            <a:ext cx="2889250" cy="4081145"/>
          </a:xfrm>
          <a:prstGeom prst="rect">
            <a:avLst/>
          </a:prstGeom>
        </p:spPr>
      </p:pic>
      <p:pic>
        <p:nvPicPr>
          <p:cNvPr id="12" name="Image 2" descr="/mnt/data/ppt_build/api_page_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815" y="1527175"/>
            <a:ext cx="2945130" cy="416242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85800" y="5897880"/>
            <a:ext cx="10972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34155"/>
                </a:solidFill>
              </a:rPr>
              <a:t>Highlights: 19 REST endpoints across health, reference data, saved-query CRUD, analytics, and skills; authentication and structured failure semantics are documented explicitly.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73952"/>
            <a:ext cx="274320" cy="18288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Technology Choices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The stack was selected to balance reproducibility, relational analytics, controlled LLM integration, and coursework-friendly implementation complexity.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0664" y="1344168"/>
            <a:ext cx="3337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FastAPI + Python 3.11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0664" y="1645920"/>
            <a:ext cx="3337560" cy="64922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Type-driven validation, automatic OpenAPI/Swagger generation, and lightweight routing for an API-first project.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97680" y="123444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43984" y="1344168"/>
            <a:ext cx="3337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MySQL 8 + SQLAlchemy 2.0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43984" y="1645920"/>
            <a:ext cx="3337560" cy="64922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Strong fit for the Classic Models relational dump, dual-account read/write split, and explicit session management.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01000" y="123444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47304" y="1344168"/>
            <a:ext cx="3337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Docker Compose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47304" y="1645920"/>
            <a:ext cx="3337560" cy="64922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Reproducible two-container deployment with service-name networking between the API and the database.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94360" y="269748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0664" y="2807208"/>
            <a:ext cx="3337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Qwen via Alibaba Model Studio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40664" y="3108960"/>
            <a:ext cx="3337560" cy="64922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OpenAI-compatible surface for agent orchestration, with provider changes handled by configuration rather than route rewrites.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97680" y="269748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443984" y="2807208"/>
            <a:ext cx="3337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Subprocess sandbox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43984" y="3108960"/>
            <a:ext cx="3337560" cy="64922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Isolates model-generated Python from the main API process and simplifies timeout, stdout capture, and failure containment.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01000" y="2697480"/>
            <a:ext cx="36118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47304" y="2807208"/>
            <a:ext cx="3337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pytest + rerun plugin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147304" y="3108960"/>
            <a:ext cx="3337560" cy="64922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Supports API, negative, and end-to-end agent tests while reducing noise from occasional upstream model instability.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251960"/>
            <a:ext cx="10789920" cy="1325880"/>
          </a:xfrm>
          <a:prstGeom prst="roundRect">
            <a:avLst>
              <a:gd name="adj" fmla="val 4138"/>
            </a:avLst>
          </a:prstGeom>
          <a:solidFill>
            <a:srgbClr val="E8F1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572000"/>
            <a:ext cx="104241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34155"/>
                </a:solidFill>
              </a:rPr>
              <a:t>Design rationale from the technical report: the final architecture combines a conventional data API with a self-loop agent that must work through inspectable tools rather than answer directly from LLM memory.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73952"/>
            <a:ext cx="274320" cy="18288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Deliverables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The repository, API documentation, technical report, and slides are aligned so the same system is described consistently across all submitted materials.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E8F1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77824" y="1527048"/>
            <a:ext cx="2240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Code repository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77824" y="1828800"/>
            <a:ext cx="2240280" cy="92354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Public GitHub repo with source code, Docker files, classicmodels.sql, README, and visible commit history.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4720" y="14173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E8F1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21024" y="1527048"/>
            <a:ext cx="2240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API documentation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21024" y="1828800"/>
            <a:ext cx="2240280" cy="92354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Written PDF plus OpenAPI / Swagger UI, covering endpoints, authentication, examples, and skill-specific error cases.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E8F1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64224" y="1527048"/>
            <a:ext cx="2240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Technical report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64224" y="1828800"/>
            <a:ext cx="2240280" cy="92354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Architecture rationale, stack choices, database design, security model, testing strategy, limitations, and GenAI declaration.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61120" y="1417320"/>
            <a:ext cx="2514600" cy="1417320"/>
          </a:xfrm>
          <a:prstGeom prst="roundRect">
            <a:avLst>
              <a:gd name="adj" fmla="val 7742"/>
            </a:avLst>
          </a:prstGeom>
          <a:solidFill>
            <a:srgbClr val="E8F1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07424" y="1527048"/>
            <a:ext cx="22402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Presentation slides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07424" y="1828800"/>
            <a:ext cx="2240280" cy="92354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A concise oral-exam deck with architecture, data model, GitHub evidence, API docs, deliverables, and key LLM feature slides.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1325880" y="3383280"/>
            <a:ext cx="4114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472184" y="3493008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Submission readiness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72184" y="3794760"/>
            <a:ext cx="3840480" cy="74066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The running system, repository structure, documentation set, and slide ordering are aligned deliberately to reduce “documentation drift” during the viva.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0" y="3383280"/>
            <a:ext cx="4114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47104" y="3493008"/>
            <a:ext cx="3840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What the marker can inspect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47104" y="3794760"/>
            <a:ext cx="3840480" cy="74066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GitHub repo, commit history, API PDF, technical report PDF, and the live behaviour demonstrated during the 5-minute presentation.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8680" y="5577840"/>
            <a:ext cx="10515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34155"/>
                </a:solidFill>
              </a:rPr>
              <a:t>This mirrors the coursework brief: version control, API docs, technical report highlights, and all deliverables are explicitly represented in the presentation.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73952"/>
            <a:ext cx="274320" cy="18288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 Highlight: LLM-Driven Analysis Flow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Natural-language business questions are handled by a self-loop agent that must inspect the schema, execute code, and only then synthesise a final answer.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94360" y="1234440"/>
            <a:ext cx="3657600" cy="46177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89888"/>
            <a:ext cx="256032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Why this is distinctive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783080"/>
            <a:ext cx="3154680" cy="3749040"/>
          </a:xfrm>
          <a:prstGeom prst="rect">
            <a:avLst/>
          </a:prstGeom>
          <a:noFill/>
        </p:spPr>
        <p:txBody>
          <a:bodyPr wrap="square" lIns="25400" tIns="25400" rIns="25400" bIns="25400" rtlCol="0" anchor="t"/>
          <a:lstStyle/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client sends a natural-language question instead of a fixed SQL query.</a:t>
            </a: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400" dirty="0"/>
          </a:p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first calls observe_schema() to understand tables, columns, and foreign keys.</a:t>
            </a: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400" dirty="0"/>
          </a:p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then writes Python analysis code and runs it through run_python_analysis().</a:t>
            </a: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400" dirty="0"/>
          </a:p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execution fails or is blocked, the agent reads the error, revises the code, and tries again.</a:t>
            </a: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
</a:t>
            </a:r>
            <a:endParaRPr lang="en-US" sz="1400" dirty="0"/>
          </a:p>
          <a:p>
            <a:pPr marL="160020" indent="-160020"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loop terminates with final_answer, plus saved query and analysis log records.</a:t>
            </a:r>
            <a:endParaRPr lang="en-US" sz="1400" dirty="0"/>
          </a:p>
        </p:txBody>
      </p:sp>
      <p:pic>
        <p:nvPicPr>
          <p:cNvPr id="7" name="Image 0" descr="/mnt/data/ppt_build/sequence_flow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534970"/>
            <a:ext cx="7086600" cy="39709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73952"/>
            <a:ext cx="274320" cy="18288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 Highlight: Skill Design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The agent works through a deliberately small tool surface so the analysis path remains inspectable, auditable, and easier to defend in the viva.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417320"/>
            <a:ext cx="5212080" cy="1828800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77824" y="1527048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POST /skills/observe_schema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77824" y="1828800"/>
            <a:ext cx="4937760" cy="133502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Purpose: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Return the full database schema for the current MySQL database.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Role in the loop: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- first tool invoked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- gives the agent grounded table/column context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- avoids guessing the schema from LLM memory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99632" y="1417320"/>
            <a:ext cx="5257800" cy="1828800"/>
          </a:xfrm>
          <a:prstGeom prst="roundRect">
            <a:avLst>
              <a:gd name="adj" fmla="val 6000"/>
            </a:avLst>
          </a:prstGeom>
          <a:solidFill>
            <a:srgbClr val="E8F1FF"/>
          </a:solidFill>
          <a:ln w="12700">
            <a:solidFill>
              <a:srgbClr val="CBD5E1"/>
            </a:solidFill>
            <a:prstDash val="solid"/>
          </a:ln>
          <a:effectLst>
            <a:outerShdw blurRad="19050" dist="12700" dir="27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345936" y="1527048"/>
            <a:ext cx="498348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POST /skills/run_python_analysis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45936" y="1828800"/>
            <a:ext cx="4983480" cy="133502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Purpose: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Execute sandboxed Python analysis code generated by the agent.</a:t>
            </a:r>
            <a:endParaRPr lang="en-US" sz="1150" dirty="0"/>
          </a:p>
          <a:p>
            <a:pPr marL="0" indent="0">
              <a:buNone/>
            </a:pP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Role in the loop: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- reads data only through restricted helpers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- returns stdout / print output on success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- returns structured failure information on blocked or failed execution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143000" y="3794760"/>
            <a:ext cx="98755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BFDBFE"/>
            </a:solidFill>
            <a:prstDash val="solid"/>
          </a:ln>
          <a:effectLst>
            <a:outerShdw blurRad="12700" dist="127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417320" y="4087368"/>
            <a:ext cx="932688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D4ED8"/>
                </a:solidFill>
              </a:rPr>
              <a:t>observe_schema  →  run_python_analysis  →  final_answer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5074920"/>
            <a:ext cx="10515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34155"/>
                </a:solidFill>
              </a:rPr>
              <a:t>The small tool surface is intentional: it reduces audit complexity while still supporting flexible analytics.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73952"/>
            <a:ext cx="274320" cy="18288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47472"/>
            <a:ext cx="78638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 Highlight: Controlled Execution &amp; Safety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30352" y="804672"/>
            <a:ext cx="107899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The analysis path is powerful because it is constrained: layered checks stop dangerous code, non-read SQL, and unstable execution before they affect the main API process.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89230" y="1021080"/>
            <a:ext cx="11805285" cy="5453380"/>
          </a:xfrm>
          <a:prstGeom prst="roundRect">
            <a:avLst>
              <a:gd name="adj" fmla="val 1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225" y="1305687"/>
            <a:ext cx="36576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Three-phase policy orchestration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14350" y="1565656"/>
            <a:ext cx="49377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334155"/>
                </a:solidFill>
              </a:rPr>
              <a:t>AST validation → SQL filtering → isolated subprocess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14604" y="3428873"/>
            <a:ext cx="51663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</a:rPr>
              <a:t>Main protections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03174" y="3852545"/>
            <a:ext cx="5166360" cy="1426464"/>
          </a:xfrm>
          <a:prstGeom prst="rect">
            <a:avLst/>
          </a:prstGeom>
          <a:noFill/>
        </p:spPr>
        <p:txBody>
          <a:bodyPr wrap="square" lIns="381" tIns="381" rIns="381" bIns="381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• app_ro database account is SELECT-only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• AST blocks dangerous imports and calls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• read_sql() blocks non-SELECT statements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• worker process enforces timeout and failure containment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334155"/>
                </a:solidFill>
              </a:rPr>
              <a:t>• the API returns structured error types instead of raw crashes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73952"/>
            <a:ext cx="274320" cy="182880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ctr"/>
            <a:fld id="{F7021451-1387-4CA6-816F-3879F97B5CBC}" type="slidenum">
              <a:rPr lang="en-US" b="0"/>
            </a:fld>
            <a:endParaRPr lang="en-US"/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6050" y="1078865"/>
            <a:ext cx="6711315" cy="53695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6310</Words>
  <Application>WPS 文字</Application>
  <PresentationFormat>On-screen Show (16:9)</PresentationFormat>
  <Paragraphs>188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8" baseType="lpstr">
      <vt:lpstr>Arial</vt:lpstr>
      <vt:lpstr>宋体</vt:lpstr>
      <vt:lpstr>Wingdings</vt:lpstr>
      <vt:lpstr>Aptos</vt:lpstr>
      <vt:lpstr>Helvetica Neue</vt:lpstr>
      <vt:lpstr>Aptos</vt:lpstr>
      <vt:lpstr>Aptos</vt:lpstr>
      <vt:lpstr>Aptos</vt:lpstr>
      <vt:lpstr>Aptos Display</vt:lpstr>
      <vt:lpstr>Aptos Display</vt:lpstr>
      <vt:lpstr>Aptos Display</vt:lpstr>
      <vt:lpstr>微软雅黑</vt:lpstr>
      <vt:lpstr>汉仪旗黑</vt:lpstr>
      <vt:lpstr>宋体</vt:lpstr>
      <vt:lpstr>Arial Unicode MS</vt:lpstr>
      <vt:lpstr>Calibri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OpenAI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InsightAgent Presentation</dc:title>
  <dc:creator>OpenAI</dc:creator>
  <dc:subject>InsightAgent presentation</dc:subject>
  <cp:lastModifiedBy>寂寥雨巷</cp:lastModifiedBy>
  <cp:revision>2</cp:revision>
  <dcterms:created xsi:type="dcterms:W3CDTF">2026-04-21T03:54:53Z</dcterms:created>
  <dcterms:modified xsi:type="dcterms:W3CDTF">2026-04-21T03:54:53Z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DABA2C6D4E290EC80DF5E669362D6E74_42</vt:lpwstr>
  </property>
  <property fmtid="{D5CDD505-2E9C-101B-9397-08002B2CF9AE}" pid="3" name="KSOProductBuildVer">
    <vt:lpwstr>2052-12.1.23540.23540</vt:lpwstr>
  </property>
</Properties>
</file>