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PDF: InsightAgent_Technical_Report_final_nosubmissionblock_fig2singlecol(1).pdf, pp.1-5.
- User-provided API documentation PDF: API(1).pdf, pp.1-3.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architecture image: 994c43e8-b114-4e37-89df-98550d780042.png.
- User-provided technical report PDF, p.2 Figure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Mermaid ER specification from chat message on 2026-04-21.
- User-provided technical report PDF, pp.1-2 for business tables and custom audit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GitHub repository screenshot: 58ab371d-7a4f-42ae-9b96-739c447604b7.png.
- User-provided GitHub commit-history screenshot: 12e4d12a-ebee-4cc1-9ad6-2a5fcdad6be0.png.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API documentation PDF: API(1).pdf, pp.2, 6, and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PDF, pp.1-3 (Technology Stack Justification and Table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coursework brief PDFs: XJCO3011_Coursework1_Brief__2025_2026*.pdf, deliverables and presentation sections.
- User-provided technical report PDF, p.4-5 (submission readiness).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PDF, pp.2-4 (Natural-Language Analysis Path, LLM Agent Design, Figure 3).
- User-provided API documentation PDF, pp.19-20 (/analytics/analyze).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PDF, pp.2-3 and p.6 (architecture decision and ChatGPT architecture exploration appendix).
- User-provided API documentation PDF, pp.3, 6, and 19-22.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PDF, p.3 Figure 2 and Section 5.2.
- User-provided API documentation PDF, p.6 (skill-specific error statuses).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PDF, p.3 Figure 2 and Section 5.2.
- User-provided API documentation PDF, p.6 (skill-specific error statuses).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technical report PDF, p.3 Figure 2 and Section 5.2.
- User-provided API documentation PDF, p.6 (skill-specific error statuses).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6473952"/>
            <a:ext cx="2103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XJCO3011 Coursework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github.com/berwinye/InsightAgent/blob/main/docs/InsightAgent_presentation.pptx" TargetMode="External"/><Relationship Id="rId3" Type="http://schemas.openxmlformats.org/officeDocument/2006/relationships/hyperlink" Target="https://github.com/berwinye/InsightAgent/blob/main/docs/Technical_Report.pdf" TargetMode="External"/><Relationship Id="rId2" Type="http://schemas.openxmlformats.org/officeDocument/2006/relationships/hyperlink" Target="https://github.com/berwinye/InsightAgent/blob/main/docs/API.pdf" TargetMode="External"/><Relationship Id="rId1" Type="http://schemas.openxmlformats.org/officeDocument/2006/relationships/hyperlink" Target="https://github.com/berwinye/InsightAge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E8F1FF"/>
          </a:solidFill>
          <a:ln w="12700">
            <a:solidFill>
              <a:srgbClr val="E8F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5669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645920"/>
            <a:ext cx="9784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Enterprise Sales Data API with an LLM-Powered Self-Loop Analysis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5577840" cy="201168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buSzPct val="100000"/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MySQL 8 + Docker Compose deployment</a:t>
            </a: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0" indent="0">
              <a:buSzPct val="100000"/>
              <a:buNone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Models business schema extended with audit and agent tables</a:t>
            </a: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routes, analytics endpoints, and a controlled natural-language analysis path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03720" y="224028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50024" y="235000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Project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50024" y="2651760"/>
            <a:ext cx="4297680" cy="55778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 database-backed web API that combines conventional engineering discipline with a modern tool-using analysis agent.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352044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50024" y="363016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Core highlight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50024" y="3931920"/>
            <a:ext cx="4297680" cy="55778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agent does not answer from memory: it must observe the schema, execute analysis code, and terminate with a grounded final answer.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480060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50024" y="491032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Why it fits the coursework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0024" y="5212080"/>
            <a:ext cx="4297680" cy="55778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It demonstrates CRUD, analytics, API documentation, deployment, testing, and creative high-level GenAI use in one coherent system.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API server, LLM orchestration layer, isolated execution environment, and read-only / read-write data paths are explicitly separated.</a:t>
            </a:r>
            <a:endParaRPr lang="en-US" sz="1100" dirty="0"/>
          </a:p>
        </p:txBody>
      </p:sp>
      <p:pic>
        <p:nvPicPr>
          <p:cNvPr id="4" name="Image 0" descr="/mnt/data/994c43e8-b114-4e37-89df-98550d7800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" y="1078865"/>
            <a:ext cx="10606405" cy="48552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0875" y="5934075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6093968"/>
            <a:ext cx="10607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Key idea: standard business routes use the write-enabled path, while the agent and skill execution path are isolated and restricted to the read-only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Classic Models business tables are extended with saved_queries, analysis_logs, and agent_turns to support auditability and the agent workflow.</a:t>
            </a:r>
            <a:endParaRPr lang="en-US" sz="1100" dirty="0"/>
          </a:p>
        </p:txBody>
      </p:sp>
      <p:pic>
        <p:nvPicPr>
          <p:cNvPr id="4" name="Image 0" descr="/mnt/data/ppt_build/er_diagram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993265" y="1124585"/>
            <a:ext cx="7863840" cy="64338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&amp; GitHub Evidence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repository is public, structured, and backed by a visible multi-commit history.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99632" y="1207008"/>
            <a:ext cx="5468112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Repository homepage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82512" y="1325880"/>
            <a:ext cx="21945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Commit history</a:t>
            </a:r>
            <a:endParaRPr lang="en-US" sz="1400" dirty="0"/>
          </a:p>
        </p:txBody>
      </p:sp>
      <p:pic>
        <p:nvPicPr>
          <p:cNvPr id="8" name="Image 0" descr="/mnt/data/58ab371d-7a4f-42ae-9b96-739c447604b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14575"/>
            <a:ext cx="5113655" cy="2637155"/>
          </a:xfrm>
          <a:prstGeom prst="rect">
            <a:avLst/>
          </a:prstGeom>
        </p:spPr>
      </p:pic>
      <p:pic>
        <p:nvPicPr>
          <p:cNvPr id="9" name="Image 1" descr="/mnt/data/12e4d12a-ebee-4cc1-9ad6-2a5fcdad6b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17689"/>
            <a:ext cx="5074920" cy="26341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5925312"/>
            <a:ext cx="10789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Evidence shown: public repo, README/docs structure, classicmodels.sql, Docker files, and visible iterative commits for documentation and hardening work.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Documentation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written API documentation covers endpoint groups, authentication, error codes, skill-specific failures, and the natural-language analysis route.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261995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9375" y="1124585"/>
            <a:ext cx="3261995" cy="46482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83475" y="1130935"/>
            <a:ext cx="3407410" cy="4663440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61872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Endpoint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935" y="1261872"/>
            <a:ext cx="1920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Skill error statuses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90561" y="1261872"/>
            <a:ext cx="2103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/analytics/analyze route</a:t>
            </a:r>
            <a:endParaRPr lang="en-US" sz="1300" dirty="0"/>
          </a:p>
        </p:txBody>
      </p:sp>
      <p:pic>
        <p:nvPicPr>
          <p:cNvPr id="10" name="Image 0" descr="/mnt/data/user-g4qmoJG7bEvpwobv0W0I9Ome/fe83e81cdb7c42c08ba50b81e480a552/mnt/data/pptwork/api_render/page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694" y="1499616"/>
            <a:ext cx="2945087" cy="4160520"/>
          </a:xfrm>
          <a:prstGeom prst="rect">
            <a:avLst/>
          </a:prstGeom>
        </p:spPr>
      </p:pic>
      <p:pic>
        <p:nvPicPr>
          <p:cNvPr id="11" name="Image 1" descr="/mnt/data/user-g4qmoJG7bEvpwobv0W0I9Ome/fe83e81cdb7c42c08ba50b81e480a552/mnt/data/pptwork/api_render/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430" y="1499870"/>
            <a:ext cx="2889250" cy="4081145"/>
          </a:xfrm>
          <a:prstGeom prst="rect">
            <a:avLst/>
          </a:prstGeom>
        </p:spPr>
      </p:pic>
      <p:pic>
        <p:nvPicPr>
          <p:cNvPr id="12" name="Image 2" descr="/mnt/data/ppt_build/api_pag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815" y="1527175"/>
            <a:ext cx="2945130" cy="41624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58978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Highlights: 19 REST endpoints across health, reference data, saved-query CRUD, analytics, and skills; authentication and structured failure semantics are documented explicitly.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Choices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stack was selected to balance reproducibility, relational analytics, controlled LLM integration, and coursework-friendly implementation complexity.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0664" y="134416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FastAPI + Python 3.11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0664" y="1645920"/>
            <a:ext cx="3337560" cy="6492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Type-driven validation, automatic OpenAPI/Swagger generation, and lightweight routing for an API-first project.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23444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43984" y="134416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MySQL 8 + SQLAlchemy 2.0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3984" y="1645920"/>
            <a:ext cx="3337560" cy="6492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Strong fit for the Classic Models relational dump, dual-account read/write split, and explicit session management.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23444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47304" y="134416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47304" y="1645920"/>
            <a:ext cx="3337560" cy="6492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Reproducible two-container deployment with service-name networking between the API and the database.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269748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0664" y="280720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Qwen via Alibaba Model Studio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" y="3108960"/>
            <a:ext cx="3337560" cy="6492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OpenAI-compatible surface for agent orchestration, with provider changes handled by configuration rather than route rewrites.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269748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43984" y="280720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Subprocess sandbox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3984" y="3108960"/>
            <a:ext cx="3337560" cy="6492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Isolates model-generated Python from the main API process and simplifies timeout, stdout capture, and failure containment.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2697480"/>
            <a:ext cx="3611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47304" y="280720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pytest + rerun plugin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47304" y="3108960"/>
            <a:ext cx="3337560" cy="6492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Supports API, negative, and end-to-end agent tests while reducing noise from occasional upstream model instability.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251960"/>
            <a:ext cx="10789920" cy="1325880"/>
          </a:xfrm>
          <a:prstGeom prst="roundRect">
            <a:avLst>
              <a:gd name="adj" fmla="val 4138"/>
            </a:avLst>
          </a:prstGeom>
          <a:solidFill>
            <a:srgbClr val="E8F1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72000"/>
            <a:ext cx="10424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</a:rPr>
              <a:t>Design rationale from the technical report: the final architecture combines a conventional data API with a self-loop agent that must work through inspectable tools rather than answer directly from LLM memory.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repository, API documentation, technical report, and slides are aligned so the same system is described consistently across all submitted materials.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514600" cy="1950085"/>
          </a:xfrm>
          <a:prstGeom prst="roundRect">
            <a:avLst>
              <a:gd name="adj" fmla="val 7742"/>
            </a:avLst>
          </a:prstGeom>
          <a:solidFill>
            <a:srgbClr val="E8F1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77824" y="152704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hlinkClick r:id="rId1" action="ppaction://hlinkfile"/>
              </a:rPr>
              <a:t>Code repository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1828800"/>
            <a:ext cx="2240280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Public GitHub repo with source code, Docker files, classicmodels.sql, README, and visible commit history.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514600" cy="1927860"/>
          </a:xfrm>
          <a:prstGeom prst="roundRect">
            <a:avLst>
              <a:gd name="adj" fmla="val 7742"/>
            </a:avLst>
          </a:prstGeom>
          <a:solidFill>
            <a:srgbClr val="E8F1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21024" y="152704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hlinkClick r:id="rId2" action="ppaction://hlinkfile"/>
              </a:rPr>
              <a:t>API documentation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21024" y="1828800"/>
            <a:ext cx="2240280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Written PDF plus OpenAPI / Swagger UI, covering endpoints, authentication, examples, and skill-specific error cases.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514600" cy="1922780"/>
          </a:xfrm>
          <a:prstGeom prst="roundRect">
            <a:avLst>
              <a:gd name="adj" fmla="val 7742"/>
            </a:avLst>
          </a:prstGeom>
          <a:solidFill>
            <a:srgbClr val="E8F1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52704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hlinkClick r:id="rId3" action="ppaction://hlinkfile"/>
              </a:rPr>
              <a:t>Technical report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1828800"/>
            <a:ext cx="2240280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Architecture rationale, stack choices, database design, security model, testing strategy, limitations, and GenAI declaration.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417320"/>
            <a:ext cx="2514600" cy="1888490"/>
          </a:xfrm>
          <a:prstGeom prst="roundRect">
            <a:avLst>
              <a:gd name="adj" fmla="val 7742"/>
            </a:avLst>
          </a:prstGeom>
          <a:solidFill>
            <a:srgbClr val="E8F1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52704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hlinkClick r:id="rId4" action="ppaction://hlinkfile"/>
              </a:rPr>
              <a:t>Presentation slides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07424" y="1828800"/>
            <a:ext cx="2240280" cy="92354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 concise oral-exam deck with architecture, data model, GitHub evidence, API docs, deliverables, and key LLM feature slides.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25880" y="37058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294" y="379145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Submission readiness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294" y="4102735"/>
            <a:ext cx="3840480" cy="74066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running system, repository structure, documentation set, and slide ordering are aligned deliberately to reduce “documentation drift” during the viva.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7058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47104" y="379145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marker can inspect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4102735"/>
            <a:ext cx="3840480" cy="74066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GitHub repo, commit history, API PDF, technical report PDF, and the live behaviour demonstrated during the 5-minute presentation.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57784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This mirrors the coursework brief: version control, API docs, technical report highlights, and all deliverables are explicitly represented in the presentation.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Highlight: LLM-Driven Analysis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Natural-language business questions are handled by a self-loop agent that must inspect the schema, execute code, and only then synthesise a final answer.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57600" cy="46177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9888"/>
            <a:ext cx="2560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Why this is distinctive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154680" cy="37490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sends a natural-language question instead of a fixed SQL query.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first calls observe_schema() to understand tables, columns, and foreign keys.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then writes Python analysis code and runs it through run_python_analysis().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0" indent="0">
              <a:buSzPct val="100000"/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execution fails or is blocked, the agent reads the error, revises the code, and tries again.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terminates with final_answer, plus saved query and analysis log records.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8" name="图片 7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0855" y="1234440"/>
            <a:ext cx="7891145" cy="4617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Highlight: Skill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agent works through a deliberately small tool surface so the analysis path remains inspectable, auditable, and easier to defend in the viva.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52704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POST /skills/observe_schema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1828800"/>
            <a:ext cx="4937760" cy="13350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Purpose: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Return the full database schema for the current MySQL database.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Role in the loop: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- first tool invoked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- gives the agent grounded table/column context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- avoids guessing the schema from LLM memory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 w="12700">
            <a:solidFill>
              <a:srgbClr val="CBD5E1"/>
            </a:solidFill>
            <a:prstDash val="solid"/>
          </a:ln>
          <a:effectLst>
            <a:outerShdw blurRad="19050" dist="127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45936" y="1527048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POST /skills/run_python_analysis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5936" y="1828800"/>
            <a:ext cx="4983480" cy="133502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Purpose: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Execute sandboxed Python analysis code generated by the agent.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Role in the loop: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- reads data only through restricted helpers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- returns stdout / print output on success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- returns structured failure information on blocked or failed execution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379476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FDBF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4087368"/>
            <a:ext cx="93268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</a:rPr>
              <a:t>observe_schema  →  run_python_analysis  →  final_answer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10515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The small tool surface is intentional: it reduces audit complexity while still supporting flexible analytics.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274320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Highlight: Controlled Execution &amp; Safety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analysis path is powerful because it is constrained: layered checks stop dangerous code, non-read SQL, and unstable execution before they affect the main API process.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9230" y="1021080"/>
            <a:ext cx="11805285" cy="545338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225" y="1305560"/>
            <a:ext cx="6099175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Three-phase policy orchestration</a:t>
            </a:r>
            <a:endParaRPr lang="en-US" sz="2400" b="1" dirty="0">
              <a:solidFill>
                <a:srgbClr val="0F172A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14350" y="2035175"/>
            <a:ext cx="575945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AST validation → </a:t>
            </a:r>
            <a:endParaRPr lang="en-US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SQL filtering → </a:t>
            </a:r>
            <a:endParaRPr lang="en-US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isolated subprocess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14604" y="3428873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Main protections</a:t>
            </a:r>
            <a:endParaRPr lang="en-US" sz="2000" b="1" dirty="0">
              <a:solidFill>
                <a:srgbClr val="0F172A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03174" y="3852545"/>
            <a:ext cx="5166360" cy="1426464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 app_ro database account is SELECT-only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 AST blocks dangerous imports and calls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 read_sql() blocks non-SELECT statements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 worker process enforces timeout and failure containment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• the API returns structured error types instead of raw crashes</a:t>
            </a:r>
            <a:endParaRPr lang="en-US" sz="1400" dirty="0">
              <a:solidFill>
                <a:srgbClr val="334155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825"/>
            <a:ext cx="347345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050" y="1078865"/>
            <a:ext cx="6711315" cy="5369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282828"/>
                </a:solidFill>
                <a:latin typeface="Aptos"/>
                <a:sym typeface="+mn-ea"/>
              </a:rPr>
              <a:t>Testing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5F5F5F"/>
                </a:solidFill>
                <a:latin typeface="Aptos"/>
                <a:sym typeface="+mn-ea"/>
              </a:rPr>
              <a:t>93/93 tests passed in 5m 04s, covering security checks, CRUD, negative API cases, multistep agent reasoning, and anomaly detection.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825"/>
            <a:ext cx="407035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4" name="Rounded Rectangle 4"/>
          <p:cNvSpPr/>
          <p:nvPr/>
        </p:nvSpPr>
        <p:spPr>
          <a:xfrm>
            <a:off x="594360" y="1417320"/>
            <a:ext cx="1463040" cy="822960"/>
          </a:xfrm>
          <a:prstGeom prst="roundRect">
            <a:avLst/>
          </a:prstGeom>
          <a:solidFill>
            <a:srgbClr val="F5F9F4"/>
          </a:solidFill>
          <a:ln>
            <a:solidFill>
              <a:srgbClr val="BF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774A"/>
                </a:solidFill>
                <a:latin typeface="Aptos"/>
              </a:rPr>
              <a:t>93</a:t>
            </a:r>
            <a:endParaRPr sz="2200" b="1">
              <a:solidFill>
                <a:srgbClr val="1F774A"/>
              </a:solidFill>
              <a:latin typeface="Aptos"/>
            </a:endParaRPr>
          </a:p>
          <a:p>
            <a:pPr algn="ctr"/>
            <a:r>
              <a:rPr sz="1100">
                <a:solidFill>
                  <a:srgbClr val="5F5F5F"/>
                </a:solidFill>
                <a:latin typeface="Aptos"/>
              </a:rPr>
              <a:t>Tests</a:t>
            </a:r>
            <a:endParaRPr sz="110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2240280" y="1417320"/>
            <a:ext cx="1645920" cy="822960"/>
          </a:xfrm>
          <a:prstGeom prst="roundRect">
            <a:avLst/>
          </a:prstGeom>
          <a:solidFill>
            <a:srgbClr val="F5F9F4"/>
          </a:solidFill>
          <a:ln>
            <a:solidFill>
              <a:srgbClr val="BF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774A"/>
                </a:solidFill>
                <a:latin typeface="Aptos"/>
              </a:rPr>
              <a:t>0</a:t>
            </a:r>
            <a:endParaRPr sz="2200" b="1">
              <a:solidFill>
                <a:srgbClr val="1F774A"/>
              </a:solidFill>
              <a:latin typeface="Aptos"/>
            </a:endParaRPr>
          </a:p>
          <a:p>
            <a:pPr algn="ctr"/>
            <a:r>
              <a:rPr sz="1100">
                <a:solidFill>
                  <a:srgbClr val="5F5F5F"/>
                </a:solidFill>
                <a:latin typeface="Aptos"/>
              </a:rPr>
              <a:t>Failures</a:t>
            </a:r>
            <a:endParaRPr sz="110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6" name="Rounded Rectangle 6"/>
          <p:cNvSpPr/>
          <p:nvPr/>
        </p:nvSpPr>
        <p:spPr>
          <a:xfrm>
            <a:off x="4069080" y="1417320"/>
            <a:ext cx="1645920" cy="822960"/>
          </a:xfrm>
          <a:prstGeom prst="roundRect">
            <a:avLst/>
          </a:prstGeom>
          <a:solidFill>
            <a:srgbClr val="F5F9F4"/>
          </a:solidFill>
          <a:ln>
            <a:solidFill>
              <a:srgbClr val="BF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774A"/>
                </a:solidFill>
                <a:latin typeface="Aptos"/>
              </a:rPr>
              <a:t>0</a:t>
            </a:r>
            <a:endParaRPr sz="2200" b="1">
              <a:solidFill>
                <a:srgbClr val="1F774A"/>
              </a:solidFill>
              <a:latin typeface="Aptos"/>
            </a:endParaRPr>
          </a:p>
          <a:p>
            <a:pPr algn="ctr"/>
            <a:r>
              <a:rPr sz="1100">
                <a:solidFill>
                  <a:srgbClr val="5F5F5F"/>
                </a:solidFill>
                <a:latin typeface="Aptos"/>
              </a:rPr>
              <a:t>Skipped</a:t>
            </a:r>
            <a:endParaRPr sz="110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7" name="Rounded Rectangle 7"/>
          <p:cNvSpPr/>
          <p:nvPr/>
        </p:nvSpPr>
        <p:spPr>
          <a:xfrm>
            <a:off x="5897880" y="1417320"/>
            <a:ext cx="2011680" cy="822960"/>
          </a:xfrm>
          <a:prstGeom prst="roundRect">
            <a:avLst/>
          </a:prstGeom>
          <a:solidFill>
            <a:srgbClr val="F5F9F4"/>
          </a:solidFill>
          <a:ln>
            <a:solidFill>
              <a:srgbClr val="BF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774A"/>
                </a:solidFill>
                <a:latin typeface="Aptos"/>
              </a:rPr>
              <a:t>6</a:t>
            </a:r>
            <a:endParaRPr sz="2200" b="1">
              <a:solidFill>
                <a:srgbClr val="1F774A"/>
              </a:solidFill>
              <a:latin typeface="Aptos"/>
            </a:endParaRPr>
          </a:p>
          <a:p>
            <a:pPr algn="ctr"/>
            <a:r>
              <a:rPr sz="1100">
                <a:solidFill>
                  <a:srgbClr val="5F5F5F"/>
                </a:solidFill>
                <a:latin typeface="Aptos"/>
              </a:rPr>
              <a:t>Test Files</a:t>
            </a:r>
            <a:endParaRPr sz="110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8" name="Rounded Rectangle 8"/>
          <p:cNvSpPr/>
          <p:nvPr/>
        </p:nvSpPr>
        <p:spPr>
          <a:xfrm>
            <a:off x="8138160" y="1417320"/>
            <a:ext cx="1828800" cy="822960"/>
          </a:xfrm>
          <a:prstGeom prst="roundRect">
            <a:avLst/>
          </a:prstGeom>
          <a:solidFill>
            <a:srgbClr val="F5F9F4"/>
          </a:solidFill>
          <a:ln>
            <a:solidFill>
              <a:srgbClr val="BF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774A"/>
                </a:solidFill>
                <a:latin typeface="Aptos"/>
              </a:rPr>
              <a:t>5m 04s</a:t>
            </a:r>
            <a:endParaRPr sz="2200" b="1">
              <a:solidFill>
                <a:srgbClr val="1F774A"/>
              </a:solidFill>
              <a:latin typeface="Aptos"/>
            </a:endParaRPr>
          </a:p>
          <a:p>
            <a:pPr algn="ctr"/>
            <a:r>
              <a:rPr sz="1100">
                <a:solidFill>
                  <a:srgbClr val="5F5F5F"/>
                </a:solidFill>
                <a:latin typeface="Aptos"/>
              </a:rPr>
              <a:t>Runtime</a:t>
            </a:r>
            <a:endParaRPr sz="1100">
              <a:solidFill>
                <a:srgbClr val="5F5F5F"/>
              </a:solidFill>
              <a:latin typeface="Aptos"/>
            </a:endParaRPr>
          </a:p>
        </p:txBody>
      </p:sp>
      <p:sp>
        <p:nvSpPr>
          <p:cNvPr id="19" name="Rounded Rectangle 9"/>
          <p:cNvSpPr/>
          <p:nvPr/>
        </p:nvSpPr>
        <p:spPr>
          <a:xfrm>
            <a:off x="594360" y="2514600"/>
            <a:ext cx="5349240" cy="36118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E5488"/>
                </a:solidFill>
                <a:latin typeface="Aptos"/>
              </a:rPr>
              <a:t>Coverage Areas</a:t>
            </a:r>
            <a:endParaRPr sz="1500" b="1">
              <a:solidFill>
                <a:srgbClr val="2E5488"/>
              </a:solidFill>
              <a:latin typeface="Aptos"/>
            </a:endParaRP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observe_schema: schema correctness, PK/FK metadata, custom tables, authentication failure paths</a:t>
            </a: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run_python_analysis: allowed execution, forbidden imports/calls, SQL filtering, syntax/runtime errors, timeout handling</a:t>
            </a: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saved_queries CRUD: create, read, update, delete, 404/401/422 validation paths</a:t>
            </a: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negative API tests: employees, products, analytics, logs, invalid parameters and missing resources</a:t>
            </a:r>
          </a:p>
        </p:txBody>
      </p:sp>
      <p:sp>
        <p:nvSpPr>
          <p:cNvPr id="20" name="Rounded Rectangle 10"/>
          <p:cNvSpPr/>
          <p:nvPr/>
        </p:nvSpPr>
        <p:spPr>
          <a:xfrm>
            <a:off x="6172200" y="2514600"/>
            <a:ext cx="5394960" cy="36118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E5488"/>
                </a:solidFill>
                <a:latin typeface="Aptos"/>
              </a:rPr>
              <a:t>Higher-Value Evidence</a:t>
            </a:r>
            <a:endParaRPr sz="1500" b="1">
              <a:solidFill>
                <a:srgbClr val="2E5488"/>
              </a:solidFill>
              <a:latin typeface="Aptos"/>
            </a:endParaRP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Multistep agent tests verify schema-first behaviour and tool_trace ordering</a:t>
            </a: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Security tests show jailbreak attempts are blocked rather than silently ignored</a:t>
            </a: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Anomaly-detection tests validate domain reasoning over real business data</a:t>
            </a: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End-to-end runs prove the LLM layer is grounded in tool outputs, not hard-coded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282828"/>
                </a:solidFill>
                <a:latin typeface="Aptos"/>
                <a:sym typeface="+mn-ea"/>
              </a:rPr>
              <a:t>Test Breakdown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5F5F5F"/>
                </a:solidFill>
                <a:latin typeface="Aptos"/>
                <a:sym typeface="+mn-ea"/>
              </a:rPr>
              <a:t>93/93 tests passed in 5m 04s, covering security checks, CRUD, negative API cases, multistep agent reasoning, and anomaly detection.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825"/>
            <a:ext cx="407035" cy="18288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3017520" cy="411480"/>
          </a:xfrm>
          <a:prstGeom prst="rect">
            <a:avLst/>
          </a:prstGeom>
          <a:solidFill>
            <a:srgbClr val="2E5488"/>
          </a:solidFill>
          <a:ln>
            <a:solidFill>
              <a:srgbClr val="2E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File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94760" y="1234440"/>
            <a:ext cx="731520" cy="411480"/>
          </a:xfrm>
          <a:prstGeom prst="rect">
            <a:avLst/>
          </a:prstGeom>
          <a:solidFill>
            <a:srgbClr val="2E5488"/>
          </a:solidFill>
          <a:ln>
            <a:solidFill>
              <a:srgbClr val="2E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Tests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09160" y="1234440"/>
            <a:ext cx="6812280" cy="411480"/>
          </a:xfrm>
          <a:prstGeom prst="rect">
            <a:avLst/>
          </a:prstGeom>
          <a:solidFill>
            <a:srgbClr val="2E5488"/>
          </a:solidFill>
          <a:ln>
            <a:solidFill>
              <a:srgbClr val="2E5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What it validates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664208"/>
            <a:ext cx="30175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50" b="1">
                <a:solidFill>
                  <a:srgbClr val="282828"/>
                </a:solidFill>
                <a:latin typeface="Aptos"/>
              </a:rPr>
              <a:t>test_observe_schema.py</a:t>
            </a:r>
            <a:endParaRPr sz="1050" b="1">
              <a:solidFill>
                <a:srgbClr val="282828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94760" y="1664208"/>
            <a:ext cx="7315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Aptos"/>
              </a:rPr>
              <a:t>10</a:t>
            </a:r>
            <a:endParaRPr sz="1050">
              <a:solidFill>
                <a:srgbClr val="282828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09160" y="1664208"/>
            <a:ext cx="681228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282828"/>
                </a:solidFill>
                <a:latin typeface="Aptos"/>
              </a:rPr>
              <a:t>Schema structure, business tables, PK/FK metadata, custom tables, auth failures</a:t>
            </a:r>
            <a:endParaRPr sz="1000">
              <a:solidFill>
                <a:srgbClr val="282828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2322576"/>
            <a:ext cx="301752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50" b="1">
                <a:solidFill>
                  <a:srgbClr val="282828"/>
                </a:solidFill>
                <a:latin typeface="Aptos"/>
              </a:rPr>
              <a:t>test_run_python_analysis.py</a:t>
            </a:r>
            <a:endParaRPr sz="1050" b="1">
              <a:solidFill>
                <a:srgbClr val="282828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94760" y="2322576"/>
            <a:ext cx="73152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Aptos"/>
              </a:rPr>
              <a:t>20</a:t>
            </a:r>
            <a:endParaRPr sz="1050">
              <a:solidFill>
                <a:srgbClr val="282828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09160" y="2322576"/>
            <a:ext cx="681228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282828"/>
                </a:solidFill>
                <a:latin typeface="Aptos"/>
              </a:rPr>
              <a:t>Sandbox success path, forbidden imports/calls, SQL blocks, syntax/runtime errors, timeout handling</a:t>
            </a:r>
            <a:endParaRPr sz="1000">
              <a:solidFill>
                <a:srgbClr val="282828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2980944"/>
            <a:ext cx="30175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50" b="1">
                <a:solidFill>
                  <a:srgbClr val="282828"/>
                </a:solidFill>
                <a:latin typeface="Aptos"/>
              </a:rPr>
              <a:t>test_saved_queries.py</a:t>
            </a:r>
            <a:endParaRPr sz="1050" b="1">
              <a:solidFill>
                <a:srgbClr val="282828"/>
              </a:solidFill>
              <a:latin typeface="Aptos"/>
            </a:endParaRPr>
          </a:p>
        </p:txBody>
      </p:sp>
      <p:sp>
        <p:nvSpPr>
          <p:cNvPr id="21" name="Rectangle 13"/>
          <p:cNvSpPr/>
          <p:nvPr/>
        </p:nvSpPr>
        <p:spPr>
          <a:xfrm>
            <a:off x="3794760" y="2980944"/>
            <a:ext cx="7315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Aptos"/>
              </a:rPr>
              <a:t>15</a:t>
            </a:r>
            <a:endParaRPr sz="1050">
              <a:solidFill>
                <a:srgbClr val="282828"/>
              </a:solidFill>
              <a:latin typeface="Aptos"/>
            </a:endParaRPr>
          </a:p>
        </p:txBody>
      </p:sp>
      <p:sp>
        <p:nvSpPr>
          <p:cNvPr id="22" name="Rectangle 14"/>
          <p:cNvSpPr/>
          <p:nvPr/>
        </p:nvSpPr>
        <p:spPr>
          <a:xfrm>
            <a:off x="4709160" y="2980944"/>
            <a:ext cx="681228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282828"/>
                </a:solidFill>
                <a:latin typeface="Aptos"/>
              </a:rPr>
              <a:t>Full CRUD lifecycle, validation, 404/401 behaviour, pagination constraints</a:t>
            </a:r>
            <a:endParaRPr sz="1000">
              <a:solidFill>
                <a:srgbClr val="282828"/>
              </a:solidFill>
              <a:latin typeface="Aptos"/>
            </a:endParaRPr>
          </a:p>
        </p:txBody>
      </p:sp>
      <p:sp>
        <p:nvSpPr>
          <p:cNvPr id="23" name="Rectangle 15"/>
          <p:cNvSpPr/>
          <p:nvPr/>
        </p:nvSpPr>
        <p:spPr>
          <a:xfrm>
            <a:off x="594360" y="3639311"/>
            <a:ext cx="301752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50" b="1">
                <a:solidFill>
                  <a:srgbClr val="282828"/>
                </a:solidFill>
                <a:latin typeface="Aptos"/>
              </a:rPr>
              <a:t>test_api_negative.py</a:t>
            </a:r>
            <a:endParaRPr sz="1050" b="1">
              <a:solidFill>
                <a:srgbClr val="282828"/>
              </a:solidFill>
              <a:latin typeface="Aptos"/>
            </a:endParaRPr>
          </a:p>
        </p:txBody>
      </p:sp>
      <p:sp>
        <p:nvSpPr>
          <p:cNvPr id="24" name="Rectangle 16"/>
          <p:cNvSpPr/>
          <p:nvPr/>
        </p:nvSpPr>
        <p:spPr>
          <a:xfrm>
            <a:off x="3794760" y="3639311"/>
            <a:ext cx="73152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Aptos"/>
              </a:rPr>
              <a:t>26</a:t>
            </a:r>
            <a:endParaRPr sz="1050">
              <a:solidFill>
                <a:srgbClr val="282828"/>
              </a:solidFill>
              <a:latin typeface="Aptos"/>
            </a:endParaRPr>
          </a:p>
        </p:txBody>
      </p:sp>
      <p:sp>
        <p:nvSpPr>
          <p:cNvPr id="26" name="Rectangle 17"/>
          <p:cNvSpPr/>
          <p:nvPr/>
        </p:nvSpPr>
        <p:spPr>
          <a:xfrm>
            <a:off x="4709160" y="3639311"/>
            <a:ext cx="681228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282828"/>
                </a:solidFill>
                <a:latin typeface="Aptos"/>
              </a:rPr>
              <a:t>Cross-endpoint negative cases: auth, invalid params, non-existent IDs/codes, malformed input</a:t>
            </a:r>
            <a:endParaRPr sz="1000">
              <a:solidFill>
                <a:srgbClr val="282828"/>
              </a:solidFill>
              <a:latin typeface="Aptos"/>
            </a:endParaRPr>
          </a:p>
        </p:txBody>
      </p:sp>
      <p:sp>
        <p:nvSpPr>
          <p:cNvPr id="27" name="Rectangle 18"/>
          <p:cNvSpPr/>
          <p:nvPr/>
        </p:nvSpPr>
        <p:spPr>
          <a:xfrm>
            <a:off x="594360" y="4297679"/>
            <a:ext cx="30175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50" b="1">
                <a:solidFill>
                  <a:srgbClr val="282828"/>
                </a:solidFill>
                <a:latin typeface="Aptos"/>
              </a:rPr>
              <a:t>test_multistep_agent.py</a:t>
            </a:r>
            <a:endParaRPr sz="1050" b="1">
              <a:solidFill>
                <a:srgbClr val="282828"/>
              </a:solidFill>
              <a:latin typeface="Aptos"/>
            </a:endParaRPr>
          </a:p>
        </p:txBody>
      </p:sp>
      <p:sp>
        <p:nvSpPr>
          <p:cNvPr id="28" name="Rectangle 19"/>
          <p:cNvSpPr/>
          <p:nvPr/>
        </p:nvSpPr>
        <p:spPr>
          <a:xfrm>
            <a:off x="3794760" y="4297679"/>
            <a:ext cx="73152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Aptos"/>
              </a:rPr>
              <a:t>11</a:t>
            </a:r>
            <a:endParaRPr sz="1050">
              <a:solidFill>
                <a:srgbClr val="282828"/>
              </a:solidFill>
              <a:latin typeface="Aptos"/>
            </a:endParaRPr>
          </a:p>
        </p:txBody>
      </p:sp>
      <p:sp>
        <p:nvSpPr>
          <p:cNvPr id="29" name="Rectangle 20"/>
          <p:cNvSpPr/>
          <p:nvPr/>
        </p:nvSpPr>
        <p:spPr>
          <a:xfrm>
            <a:off x="4709160" y="4297679"/>
            <a:ext cx="6812280" cy="658368"/>
          </a:xfrm>
          <a:prstGeom prst="rect">
            <a:avLst/>
          </a:prstGeom>
          <a:solidFill>
            <a:srgbClr val="F8FAFD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282828"/>
                </a:solidFill>
                <a:latin typeface="Aptos"/>
              </a:rPr>
              <a:t>Schema-before-code ordering, multistep reasoning, tool trace completeness, jailbreak resilience</a:t>
            </a:r>
            <a:endParaRPr sz="1000">
              <a:solidFill>
                <a:srgbClr val="282828"/>
              </a:solidFill>
              <a:latin typeface="Aptos"/>
            </a:endParaRPr>
          </a:p>
        </p:txBody>
      </p:sp>
      <p:sp>
        <p:nvSpPr>
          <p:cNvPr id="30" name="Rectangle 21"/>
          <p:cNvSpPr/>
          <p:nvPr/>
        </p:nvSpPr>
        <p:spPr>
          <a:xfrm>
            <a:off x="594360" y="4956047"/>
            <a:ext cx="301752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50" b="1">
                <a:solidFill>
                  <a:srgbClr val="282828"/>
                </a:solidFill>
                <a:latin typeface="Aptos"/>
              </a:rPr>
              <a:t>test_anomaly_detection.py</a:t>
            </a:r>
            <a:endParaRPr sz="1050" b="1">
              <a:solidFill>
                <a:srgbClr val="282828"/>
              </a:solidFill>
              <a:latin typeface="Aptos"/>
            </a:endParaRPr>
          </a:p>
        </p:txBody>
      </p:sp>
      <p:sp>
        <p:nvSpPr>
          <p:cNvPr id="31" name="Rectangle 22"/>
          <p:cNvSpPr/>
          <p:nvPr/>
        </p:nvSpPr>
        <p:spPr>
          <a:xfrm>
            <a:off x="3794760" y="4956047"/>
            <a:ext cx="73152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>
                <a:solidFill>
                  <a:srgbClr val="282828"/>
                </a:solidFill>
                <a:latin typeface="Aptos"/>
              </a:rPr>
              <a:t>11</a:t>
            </a:r>
            <a:endParaRPr sz="1050">
              <a:solidFill>
                <a:srgbClr val="282828"/>
              </a:solidFill>
              <a:latin typeface="Aptos"/>
            </a:endParaRPr>
          </a:p>
        </p:txBody>
      </p:sp>
      <p:sp>
        <p:nvSpPr>
          <p:cNvPr id="32" name="Rectangle 23"/>
          <p:cNvSpPr/>
          <p:nvPr/>
        </p:nvSpPr>
        <p:spPr>
          <a:xfrm>
            <a:off x="4709160" y="4956047"/>
            <a:ext cx="6812280" cy="658368"/>
          </a:xfrm>
          <a:prstGeom prst="rect">
            <a:avLst/>
          </a:prstGeom>
          <a:solidFill>
            <a:srgbClr val="EFF4FA"/>
          </a:solidFill>
          <a:ln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282828"/>
                </a:solidFill>
                <a:latin typeface="Aptos"/>
              </a:rPr>
              <a:t>Dead-stock detection, margin checks, overdue shipping, NLQ anomaly explanation, auto-save</a:t>
            </a:r>
            <a:endParaRPr sz="1000">
              <a:solidFill>
                <a:srgbClr val="282828"/>
              </a:solidFill>
              <a:latin typeface="Aptos"/>
            </a:endParaRPr>
          </a:p>
        </p:txBody>
      </p:sp>
      <p:sp>
        <p:nvSpPr>
          <p:cNvPr id="33" name="Rounded Rectangle 24"/>
          <p:cNvSpPr/>
          <p:nvPr/>
        </p:nvSpPr>
        <p:spPr>
          <a:xfrm>
            <a:off x="594360" y="5806440"/>
            <a:ext cx="10972800" cy="640080"/>
          </a:xfrm>
          <a:prstGeom prst="roundRect">
            <a:avLst/>
          </a:prstGeom>
          <a:solidFill>
            <a:srgbClr val="F4F8FD"/>
          </a:solidFill>
          <a:ln w="15240">
            <a:solidFill>
              <a:srgbClr val="B4C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E5488"/>
                </a:solidFill>
                <a:latin typeface="Aptos"/>
              </a:rPr>
              <a:t>Takeaway</a:t>
            </a:r>
            <a:endParaRPr sz="1500" b="1">
              <a:solidFill>
                <a:srgbClr val="2E5488"/>
              </a:solidFill>
              <a:latin typeface="Aptos"/>
            </a:endParaRPr>
          </a:p>
          <a:p>
            <a:pPr>
              <a:defRPr sz="1100">
                <a:solidFill>
                  <a:srgbClr val="282828"/>
                </a:solidFill>
                <a:latin typeface="Aptos"/>
              </a:defRPr>
            </a:pPr>
            <a:r>
              <a:t>The testing evidence supports both software-engineering quality (CRUD, validation, error handling) and AI-layer credibility (tool use, security, multistep reasoning).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8267</Words>
  <Application>WPS 文字</Application>
  <PresentationFormat>On-screen Show (16:9)</PresentationFormat>
  <Paragraphs>274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宋体</vt:lpstr>
      <vt:lpstr>Wingdings</vt:lpstr>
      <vt:lpstr>Aptos</vt:lpstr>
      <vt:lpstr>Helvetica Neue</vt:lpstr>
      <vt:lpstr>Aptos</vt:lpstr>
      <vt:lpstr>Aptos</vt:lpstr>
      <vt:lpstr>Aptos</vt:lpstr>
      <vt:lpstr>Aptos Display</vt:lpstr>
      <vt:lpstr>Aptos Display</vt:lpstr>
      <vt:lpstr>Aptos Display</vt:lpstr>
      <vt:lpstr>微软雅黑</vt:lpstr>
      <vt:lpstr>汉仪旗黑</vt:lpstr>
      <vt:lpstr>宋体</vt:lpstr>
      <vt:lpstr>Arial Unicode MS</vt:lpstr>
      <vt:lpstr>Calibri</vt:lpstr>
      <vt:lpstr>汉仪书宋二KW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InsightAgent Presentation</dc:title>
  <dc:creator>OpenAI</dc:creator>
  <dc:subject>InsightAgent presentation</dc:subject>
  <cp:lastModifiedBy>寂寥雨巷</cp:lastModifiedBy>
  <cp:revision>6</cp:revision>
  <dcterms:created xsi:type="dcterms:W3CDTF">2026-04-21T04:56:53Z</dcterms:created>
  <dcterms:modified xsi:type="dcterms:W3CDTF">2026-04-21T04:56:53Z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DABA2C6D4E290EC80DF5E669362D6E74_42</vt:lpwstr>
  </property>
  <property fmtid="{D5CDD505-2E9C-101B-9397-08002B2CF9AE}" pid="3" name="KSOProductBuildVer">
    <vt:lpwstr>2052-12.1.23540.23540</vt:lpwstr>
  </property>
</Properties>
</file>